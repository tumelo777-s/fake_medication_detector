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JetBrains Mono" panose="020B0604020202020204" charset="0"/>
      <p:regular r:id="rId28"/>
      <p:bold r:id="rId29"/>
      <p:italic r:id="rId30"/>
      <p:boldItalic r:id="rId31"/>
    </p:embeddedFont>
    <p:embeddedFont>
      <p:font typeface="Playfair Display" panose="00000500000000000000" pitchFamily="2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089866-7FD2-4898-A5E0-62AA26C1A2EE}">
  <a:tblStyle styleId="{F3089866-7FD2-4898-A5E0-62AA26C1A2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f620a8b69_5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df620a8b69_5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9BF04FD0-2190-66A1-CACE-A131FEB27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f620a8b69_5_379:notes">
            <a:extLst>
              <a:ext uri="{FF2B5EF4-FFF2-40B4-BE49-F238E27FC236}">
                <a16:creationId xmlns:a16="http://schemas.microsoft.com/office/drawing/2014/main" id="{1433B57F-8C6B-6B5A-98B3-5B99E9198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df620a8b69_5_379:notes">
            <a:extLst>
              <a:ext uri="{FF2B5EF4-FFF2-40B4-BE49-F238E27FC236}">
                <a16:creationId xmlns:a16="http://schemas.microsoft.com/office/drawing/2014/main" id="{0ECB96CC-9954-850A-F44F-1E6E6F503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0243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8634AF0A-406D-0E14-995B-B84AA24D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f620a8b69_5_379:notes">
            <a:extLst>
              <a:ext uri="{FF2B5EF4-FFF2-40B4-BE49-F238E27FC236}">
                <a16:creationId xmlns:a16="http://schemas.microsoft.com/office/drawing/2014/main" id="{B036A649-D6F5-0E1B-4EEE-5847362DB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df620a8b69_5_379:notes">
            <a:extLst>
              <a:ext uri="{FF2B5EF4-FFF2-40B4-BE49-F238E27FC236}">
                <a16:creationId xmlns:a16="http://schemas.microsoft.com/office/drawing/2014/main" id="{01F0C531-A133-B621-1BE4-DD3D7D1B7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4387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f620a8b69_5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df620a8b69_5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audio" Target="../media/media8.m4a"/><Relationship Id="rId7" Type="http://schemas.openxmlformats.org/officeDocument/2006/relationships/image" Target="../media/image17.png"/><Relationship Id="rId2" Type="http://schemas.microsoft.com/office/2007/relationships/media" Target="../media/media8.m4a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s.princeton.edu/cass/papers/www11.pdf" TargetMode="External"/><Relationship Id="rId13" Type="http://schemas.openxmlformats.org/officeDocument/2006/relationships/hyperlink" Target="https://www.sciencedirect.com/topics/computer-science/color-histogram" TargetMode="External"/><Relationship Id="rId18" Type="http://schemas.openxmlformats.org/officeDocument/2006/relationships/hyperlink" Target="https://youtube.com/shorts/XuZCJ5eeZf8?si=OvRX26Ub5hS-SQWV" TargetMode="External"/><Relationship Id="rId3" Type="http://schemas.openxmlformats.org/officeDocument/2006/relationships/hyperlink" Target="https://www.ispor.org/docs/default-source/presentations/873.pdf?sfvrsn=88b82b3b_1" TargetMode="External"/><Relationship Id="rId7" Type="http://schemas.openxmlformats.org/officeDocument/2006/relationships/hyperlink" Target="https://www.researchgate.net/publication/350818425_k-Nearest_Neighbor_Learning_with_Graph_Neural_Networks" TargetMode="External"/><Relationship Id="rId12" Type="http://schemas.openxmlformats.org/officeDocument/2006/relationships/hyperlink" Target="https://garagefarm.net/blog/color-histograms-demystified-from-theory-to-practical-image-analysis" TargetMode="External"/><Relationship Id="rId17" Type="http://schemas.openxmlformats.org/officeDocument/2006/relationships/hyperlink" Target="https://youtu.be/pLIajuc31qk?si=zlFvDnqp1uE3QIzz" TargetMode="External"/><Relationship Id="rId2" Type="http://schemas.openxmlformats.org/officeDocument/2006/relationships/notesSlide" Target="../notesSlides/notesSlide17.xml"/><Relationship Id="rId16" Type="http://schemas.openxmlformats.org/officeDocument/2006/relationships/hyperlink" Target="https://www.geeksforgeeks.org/machine-learning/l1-l2-norms-in-sparse-modeling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dium.com/@steoamon/understanding-graph-operations-an-example-using-an-adjacency-matrix-be5adb4665a9" TargetMode="External"/><Relationship Id="rId11" Type="http://schemas.openxmlformats.org/officeDocument/2006/relationships/hyperlink" Target="https://www.youtube.com/watch?v=lv8-YgWYtU4" TargetMode="External"/><Relationship Id="rId5" Type="http://schemas.openxmlformats.org/officeDocument/2006/relationships/hyperlink" Target="https://fiveable.me/data-structures/unit-10/graph-adt-basic-operations/study-guide/vWOgZLIBmamAdk6X" TargetMode="External"/><Relationship Id="rId15" Type="http://schemas.openxmlformats.org/officeDocument/2006/relationships/hyperlink" Target="https://www.geeksforgeeks.org/dbms/cosine-similarity/" TargetMode="External"/><Relationship Id="rId10" Type="http://schemas.openxmlformats.org/officeDocument/2006/relationships/hyperlink" Target="https://erepo.uef.fi/server/api/core/bitstreams/f70009b5-2a47-4070-81d1-392019cd23d1/content#:~:text=Trivial%20brute%20force%20algorithm%20constructs,over%20the%20brute%20force%20method" TargetMode="External"/><Relationship Id="rId4" Type="http://schemas.openxmlformats.org/officeDocument/2006/relationships/hyperlink" Target="https://www.medicalbrief.co.za/sa-launches-who-backed-plan-to-combat-rise-of-counterfeit-meds/" TargetMode="External"/><Relationship Id="rId9" Type="http://schemas.openxmlformats.org/officeDocument/2006/relationships/hyperlink" Target="https://www.sciencedirect.com/science/chapter/monograph/abs/pii/B9780128238172000115" TargetMode="External"/><Relationship Id="rId14" Type="http://schemas.openxmlformats.org/officeDocument/2006/relationships/hyperlink" Target="https://youtu.be/AzSJ6v4u-t8?si=RCYOqlYfQily_KB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high-end, professional medical laboratory background with a soft blue bokeh effect, featuring microscopes and scientific equipment in shallow focus, dark navy blue color grade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28998" y="0"/>
            <a:ext cx="12192000" cy="6858000"/>
          </a:xfrm>
          <a:prstGeom prst="rect">
            <a:avLst/>
          </a:prstGeom>
          <a:solidFill>
            <a:srgbClr val="002147">
              <a:alpha val="7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13335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1619250"/>
            <a:ext cx="9525000" cy="1674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40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Fake Medicine Detection</a:t>
            </a:r>
            <a:endParaRPr sz="5440" b="1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40" b="1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South Africa</a:t>
            </a:r>
            <a:endParaRPr sz="5440" b="1">
              <a:solidFill>
                <a:srgbClr val="10B98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429000"/>
            <a:ext cx="7620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Graph-Based Image Processing Approach</a:t>
            </a:r>
            <a:endParaRPr sz="20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667250" y="4191000"/>
            <a:ext cx="2857500" cy="19200"/>
          </a:xfrm>
          <a:prstGeom prst="rect">
            <a:avLst/>
          </a:prstGeom>
          <a:solidFill>
            <a:srgbClr val="10B981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38500" y="4572000"/>
            <a:ext cx="5715000" cy="5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Cornerstone Coders</a:t>
            </a:r>
            <a:endParaRPr sz="1600" b="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CSC Mini Project</a:t>
            </a:r>
            <a:endParaRPr sz="14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p13" title="Untitled_design__3_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84775" y="-216025"/>
            <a:ext cx="2047050" cy="2047050"/>
          </a:xfrm>
          <a:prstGeom prst="rect">
            <a:avLst/>
          </a:prstGeom>
          <a:solidFill>
            <a:srgbClr val="002147">
              <a:alpha val="75000"/>
            </a:srgbClr>
          </a:solidFill>
          <a:ln>
            <a:noFill/>
          </a:ln>
        </p:spPr>
      </p:pic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90B7B727-DF13-6231-4272-1FA8D32087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49"/>
    </mc:Choice>
    <mc:Fallback xmlns="">
      <p:transition spd="slow" advTm="10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1" y="27262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4513" y="4455681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4500" y="2229906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91638" y="2229906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91625" y="4455681"/>
            <a:ext cx="26193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43900" y="3007150"/>
            <a:ext cx="4530600" cy="18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002147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Technical Foundations</a:t>
            </a:r>
            <a:endParaRPr sz="1300" b="1">
              <a:solidFill>
                <a:srgbClr val="002147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A group of four passionate computer scientists collaborating on a real-world health challenge in the South African context.</a:t>
            </a:r>
            <a:endParaRPr sz="1500">
              <a:solidFill>
                <a:srgbClr val="334155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49964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425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249561" y="5477306"/>
            <a:ext cx="223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Inter"/>
                <a:ea typeface="Inter"/>
                <a:cs typeface="Inter"/>
                <a:sym typeface="Inter"/>
              </a:rPr>
              <a:t>MJ Makhavhu 223042963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235038" y="3275731"/>
            <a:ext cx="223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Inter"/>
                <a:ea typeface="Inter"/>
                <a:cs typeface="Inter"/>
                <a:sym typeface="Inter"/>
              </a:rPr>
              <a:t>O Ntebe 222033549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382188" y="3275731"/>
            <a:ext cx="223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Inter"/>
                <a:ea typeface="Inter"/>
                <a:cs typeface="Inter"/>
                <a:sym typeface="Inter"/>
              </a:rPr>
              <a:t>N Dube 223080564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82163" y="5546956"/>
            <a:ext cx="223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Inter"/>
                <a:ea typeface="Inter"/>
                <a:cs typeface="Inter"/>
                <a:sym typeface="Inter"/>
              </a:rPr>
              <a:t>TM Mphahlele 223164048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46437" y="445568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46437" y="232478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69612" y="232478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3200" y="457835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6814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Meet the Team: Cornerstone Coders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13862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25D47B09-0B74-1755-69AF-310CE432DA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3125" t="-203125" r="-203125" b="-203125"/>
          <a:stretch>
            <a:fillRect/>
          </a:stretch>
        </p:blipFill>
        <p:spPr>
          <a:xfrm>
            <a:off x="10115700" y="4931931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28"/>
    </mc:Choice>
    <mc:Fallback xmlns="">
      <p:transition spd="slow" advTm="135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title="counterfeit_drugs.jpg"/>
          <p:cNvPicPr preferRelativeResize="0"/>
          <p:nvPr/>
        </p:nvPicPr>
        <p:blipFill rotWithShape="1">
          <a:blip r:embed="rId6">
            <a:alphaModFix/>
          </a:blip>
          <a:srcRect l="3148" r="3157"/>
          <a:stretch/>
        </p:blipFill>
        <p:spPr>
          <a:xfrm>
            <a:off x="6286500" y="1951311"/>
            <a:ext cx="5334001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00125" y="1943100"/>
            <a:ext cx="4905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South Africa faces a growing counterfeit medicine crisis, impacting thousands annually.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2733950"/>
            <a:ext cx="4905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Counterfeits range from essential antibiotics, syrups, and even life-critical medications.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3524800"/>
            <a:ext cx="490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onsumers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depend on manual inspection,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which can be hard to notice subtle changes in medicine packaging.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Background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4557575"/>
            <a:ext cx="4905300" cy="21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 Case Studies: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 Surge in Cases: A 5-fold increase in SAHPRA whistle-blower tip-offs regarding fake products since 2021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   Devastating Human Toll: Over 120,000 children under five die annually in sub-Saharan Africa due to fake anti-malarial drugs alone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DEEA60BD-1C10-DCB5-3280-AD7A73BCE0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25"/>
    </mc:Choice>
    <mc:Fallback xmlns="">
      <p:transition spd="slow" advTm="332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14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588302" y="2662225"/>
            <a:ext cx="29838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±30% 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588293" y="3929062"/>
            <a:ext cx="221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MEDICAL </a:t>
            </a:r>
            <a:r>
              <a:rPr lang="en-US" sz="150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PRODUCTS FALSIFIED IN AFRICA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841206" y="1799431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214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Counterfeit medicines put lives at risk daily 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41206" y="3929056"/>
            <a:ext cx="47625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Expensive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Require constant internet</a:t>
            </a:r>
            <a:endParaRPr sz="1425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●"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 tailored for South African market</a:t>
            </a:r>
            <a:endParaRPr sz="1425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Core Problem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84450" y="6255800"/>
            <a:ext cx="11423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00214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Critical Question: How can we accurately verify medicine authenticity using only an image taken by a normal camera? </a:t>
            </a:r>
            <a:endParaRPr sz="1300"/>
          </a:p>
        </p:txBody>
      </p:sp>
      <p:sp>
        <p:nvSpPr>
          <p:cNvPr id="136" name="Google Shape;136;p16"/>
          <p:cNvSpPr txBox="1"/>
          <p:nvPr/>
        </p:nvSpPr>
        <p:spPr>
          <a:xfrm>
            <a:off x="5841206" y="3429006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214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Existing solutions are: 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41206" y="2233369"/>
            <a:ext cx="4762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14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 eyes cannot detect subtle variations such as color shade, texture, printing quality in counterfeit manufacturing.</a:t>
            </a:r>
            <a:endParaRPr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3E9263D-9C50-8CFE-E6AD-C102FBFD93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56"/>
    </mc:Choice>
    <mc:Fallback xmlns="">
      <p:transition spd="slow" advTm="27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350293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Main Objective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817018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 a standalone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Desktop Application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detecting fake medicines by analyzing image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 of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pills and packaging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4083843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Convert images into graph structures.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00125" y="4593431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Extract features via color histograms.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5103018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built on efficient data structures, and algorithms.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15125" y="4083843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 similarity detection.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15125" y="4593431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 Image 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classification (Authentic vs Fake).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5103018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User-friendly desktop interface.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194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3153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4111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121943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463153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0" y="5141118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Objectives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3F23846-D718-E428-D4DC-3AE0F60296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66"/>
    </mc:Choice>
    <mc:Fallback xmlns="">
      <p:transition spd="slow" advTm="38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3395662" y="2538412"/>
            <a:ext cx="54006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Methodology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524250" y="3300412"/>
            <a:ext cx="514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Graph-Based Detection 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619750" y="3986212"/>
            <a:ext cx="9525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15D4E7AB-2649-4917-9394-38EEEEF329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3"/>
    </mc:Choice>
    <mc:Fallback xmlns="">
      <p:transition spd="slow" advTm="23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804" y="3180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620525" y="1838325"/>
            <a:ext cx="5266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Data Flow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15125" y="2314575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Input: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Raw medicine image (pill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package).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715125" y="2824150"/>
            <a:ext cx="54768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Image Processing: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Color Histogram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Feature Extractor.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15125" y="3333750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Logic: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Graph construction (Image To Graph, CRU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715125" y="3843337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Algorithms: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Similarity Detection engine.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15125" y="4352925"/>
            <a:ext cx="4905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Output: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Final classification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Confidence score.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 Pipeline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 title="CRM Solutions for Automated-2026-05-08-02412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4125" y="1276350"/>
            <a:ext cx="2181101" cy="583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E425F2CD-1701-D70C-8E27-45991EF9A1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125" t="-203125" r="-203125" b="-203125"/>
          <a:stretch>
            <a:fillRect/>
          </a:stretch>
        </p:blipFill>
        <p:spPr>
          <a:xfrm>
            <a:off x="10060255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50"/>
    </mc:Choice>
    <mc:Fallback xmlns="">
      <p:transition spd="slow" advTm="25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title="Gemini_Generated_Image_9i026w9i026w9i02.png"/>
          <p:cNvPicPr preferRelativeResize="0"/>
          <p:nvPr/>
        </p:nvPicPr>
        <p:blipFill rotWithShape="1">
          <a:blip r:embed="rId7">
            <a:alphaModFix/>
          </a:blip>
          <a:srcRect l="573" r="583"/>
          <a:stretch/>
        </p:blipFill>
        <p:spPr>
          <a:xfrm>
            <a:off x="798287" y="2698250"/>
            <a:ext cx="11147873" cy="25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98403"/>
            <a:ext cx="5334000" cy="117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2698253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Grid-Based Feature Extraction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3164978"/>
            <a:ext cx="5334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image is divided into 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grid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make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regions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enabling the 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capt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uring of 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color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histograms. </a:t>
            </a:r>
            <a:endParaRPr/>
          </a:p>
        </p:txBody>
      </p:sp>
      <p:pic>
        <p:nvPicPr>
          <p:cNvPr id="190" name="Google Shape;190;p20" title="Screenshot 2026-05-08 013912.png"/>
          <p:cNvPicPr preferRelativeResize="0"/>
          <p:nvPr/>
        </p:nvPicPr>
        <p:blipFill rotWithShape="1">
          <a:blip r:embed="rId9">
            <a:alphaModFix/>
          </a:blip>
          <a:srcRect t="8889" b="8881"/>
          <a:stretch/>
        </p:blipFill>
        <p:spPr>
          <a:xfrm>
            <a:off x="1080312" y="4184150"/>
            <a:ext cx="4316375" cy="3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762000" y="454059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L2 Normalization ensures robust feature comparison.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Processing Module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35095DF5-991B-D5BE-7470-EE4B530ACD5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68"/>
    </mc:Choice>
    <mc:Fallback xmlns="">
      <p:transition spd="slow" advTm="152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57800"/>
            <a:ext cx="49530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995362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Graph Construction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2081212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Structural Representation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2547937"/>
            <a:ext cx="4953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Each grid cell is treated as 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We establish connections using k-Nearest Neighbors (k-NN) to build a visual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graph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3505200"/>
            <a:ext cx="4953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graph representation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preserves each nodes color feature vector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which is vital for detecting subtle packaging shifts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85813" y="5753000"/>
            <a:ext cx="4524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Class: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ImageToGraph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85813" y="6058450"/>
            <a:ext cx="4524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Custom Adjacency List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02475" y="4545900"/>
            <a:ext cx="4953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Graph includes CRUD functionality, demonstrations of shortest path and an MST construction</a:t>
            </a:r>
            <a:endParaRPr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FAC8AE16-1EA8-8451-1DD3-E59821B323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86"/>
    </mc:Choice>
    <mc:Fallback xmlns="">
      <p:transition spd="slow" advTm="493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47900"/>
            <a:ext cx="5334000" cy="267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247900"/>
            <a:ext cx="5334000" cy="2671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5300662"/>
            <a:ext cx="110490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Returns a 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Confidence Score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a list of top matching medicines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which are classified and scored for similarity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48188" y="320040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Similarity Detection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66775" y="3667125"/>
            <a:ext cx="47434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Calculates the visual distance between two graphs using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Cosine Similarity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combined with Node-to-Node matching.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463188" y="3200400"/>
            <a:ext cx="49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1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-NN Classifier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581775" y="3667125"/>
            <a:ext cx="4743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Find K number of similar images throughout the entire dataset, and use voting to determine if the product is </a:t>
            </a:r>
            <a:r>
              <a:rPr lang="en-US" sz="1425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AUTHENTIC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 </a:t>
            </a:r>
            <a:r>
              <a:rPr lang="en-US" sz="1425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FAKE </a:t>
            </a:r>
            <a:endParaRPr b="1"/>
          </a:p>
        </p:txBody>
      </p:sp>
      <p:pic>
        <p:nvPicPr>
          <p:cNvPr id="220" name="Google Shape;22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48000" y="2581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86812" y="25812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Similarity &amp; Classification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6869BB42-B04F-E977-FBB3-94E55C100A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8"/>
    </mc:Choice>
    <mc:Fallback xmlns="">
      <p:transition spd="slow" advTm="1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3"/>
          <p:cNvGraphicFramePr/>
          <p:nvPr/>
        </p:nvGraphicFramePr>
        <p:xfrm>
          <a:off x="571500" y="2266950"/>
          <a:ext cx="11049000" cy="2824125"/>
        </p:xfrm>
        <a:graphic>
          <a:graphicData uri="http://schemas.openxmlformats.org/drawingml/2006/table">
            <a:tbl>
              <a:tblPr firstRow="1" bandRow="1">
                <a:noFill/>
                <a:tableStyleId>{F3089866-7FD2-4898-A5E0-62AA26C1A2EE}</a:tableStyleId>
              </a:tblPr>
              <a:tblGrid>
                <a:gridCol w="265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Structure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Implementation Detail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Application in Project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Adjacency 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Linked Nodes &amp; Edges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Graph storage for image segments.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HashMap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Hash Hashing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 lookup of medicine </a:t>
                      </a:r>
                      <a:r>
                        <a:rPr lang="en-US" sz="14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objects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Heap (Priority Queue)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 Binary Heap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Retrieving </a:t>
                      </a:r>
                      <a:r>
                        <a:rPr lang="en-US" sz="14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shortest paths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LinkedList / Stack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 Sizing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Managing image </a:t>
                      </a:r>
                      <a:r>
                        <a:rPr lang="en-US" sz="14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nodes and edges,</a:t>
                      </a: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4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enabling CRUD functionality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0" name="Google Shape;230;p23"/>
          <p:cNvSpPr/>
          <p:nvPr/>
        </p:nvSpPr>
        <p:spPr>
          <a:xfrm>
            <a:off x="571500" y="3376612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230165" y="3376612"/>
            <a:ext cx="2670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900291" y="3376612"/>
            <a:ext cx="572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3943350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230165" y="3943350"/>
            <a:ext cx="2670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900291" y="3943350"/>
            <a:ext cx="572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4510087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230165" y="4510087"/>
            <a:ext cx="2670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900291" y="4510087"/>
            <a:ext cx="572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5076825"/>
            <a:ext cx="26586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230165" y="5076825"/>
            <a:ext cx="2670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900291" y="5076825"/>
            <a:ext cx="5720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Structures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72B269F9-D435-A194-5E29-99A1F9F1DE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9"/>
    </mc:Choice>
    <mc:Fallback xmlns="">
      <p:transition spd="slow" advTm="350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3395662" y="2538412"/>
            <a:ext cx="5400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Demonstration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3524250" y="3300412"/>
            <a:ext cx="514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Fake Medicine Detector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619750" y="3986212"/>
            <a:ext cx="952500" cy="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859B2A5D-C7B8-BD1C-843E-614E2224D6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5"/>
    </mc:Choice>
    <mc:Fallback xmlns="">
      <p:transition spd="slow" advTm="2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2A25D757-0EE3-F8F2-A541-4B294623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5717C896-A4F4-00C2-A64D-4AE638F12532}"/>
              </a:ext>
            </a:extLst>
          </p:cNvPr>
          <p:cNvSpPr txBox="1"/>
          <p:nvPr/>
        </p:nvSpPr>
        <p:spPr>
          <a:xfrm>
            <a:off x="3077609" y="61165"/>
            <a:ext cx="5400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Intro Page</a:t>
            </a:r>
            <a:endParaRPr lang="en-US" dirty="0"/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60303F98-1ED6-A510-67C4-081ECB24C69D}"/>
              </a:ext>
            </a:extLst>
          </p:cNvPr>
          <p:cNvSpPr txBox="1"/>
          <p:nvPr/>
        </p:nvSpPr>
        <p:spPr>
          <a:xfrm>
            <a:off x="3428834" y="917282"/>
            <a:ext cx="514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Fake Medicine Detector</a:t>
            </a:r>
            <a:endParaRPr dirty="0"/>
          </a:p>
        </p:txBody>
      </p:sp>
      <p:sp>
        <p:nvSpPr>
          <p:cNvPr id="251" name="Google Shape;251;p24">
            <a:extLst>
              <a:ext uri="{FF2B5EF4-FFF2-40B4-BE49-F238E27FC236}">
                <a16:creationId xmlns:a16="http://schemas.microsoft.com/office/drawing/2014/main" id="{AA1CC851-F167-9373-84AB-22D5056B33E8}"/>
              </a:ext>
            </a:extLst>
          </p:cNvPr>
          <p:cNvSpPr/>
          <p:nvPr/>
        </p:nvSpPr>
        <p:spPr>
          <a:xfrm>
            <a:off x="5619750" y="3986212"/>
            <a:ext cx="952500" cy="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9E161DC5-2F1B-9B59-F651-F917015F6D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526A2-C7D9-CDA0-5092-C50E95462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713" y="1567216"/>
            <a:ext cx="6957391" cy="49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9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5"/>
    </mc:Choice>
    <mc:Fallback xmlns="">
      <p:transition spd="slow" advTm="2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8DE79A7B-21E9-D448-4321-7A5CFC2D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6A77DB58-2AAF-260B-BE8A-D7FE5EF69D5D}"/>
              </a:ext>
            </a:extLst>
          </p:cNvPr>
          <p:cNvSpPr txBox="1"/>
          <p:nvPr/>
        </p:nvSpPr>
        <p:spPr>
          <a:xfrm>
            <a:off x="-94961" y="224583"/>
            <a:ext cx="10916686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Process Workflow Page</a:t>
            </a:r>
            <a:endParaRPr lang="en-US" dirty="0"/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6606CE70-A37A-F83A-45B8-0C71115CB1A7}"/>
              </a:ext>
            </a:extLst>
          </p:cNvPr>
          <p:cNvSpPr txBox="1"/>
          <p:nvPr/>
        </p:nvSpPr>
        <p:spPr>
          <a:xfrm>
            <a:off x="3428834" y="917282"/>
            <a:ext cx="514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Fake Medicine Detector</a:t>
            </a:r>
            <a:endParaRPr dirty="0"/>
          </a:p>
        </p:txBody>
      </p:sp>
      <p:sp>
        <p:nvSpPr>
          <p:cNvPr id="251" name="Google Shape;251;p24">
            <a:extLst>
              <a:ext uri="{FF2B5EF4-FFF2-40B4-BE49-F238E27FC236}">
                <a16:creationId xmlns:a16="http://schemas.microsoft.com/office/drawing/2014/main" id="{EA9A97F1-64E6-82DD-298F-056BBA18151E}"/>
              </a:ext>
            </a:extLst>
          </p:cNvPr>
          <p:cNvSpPr/>
          <p:nvPr/>
        </p:nvSpPr>
        <p:spPr>
          <a:xfrm>
            <a:off x="5619750" y="3986212"/>
            <a:ext cx="952500" cy="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FC2A1C0B-4FCA-A5F5-6B1E-D238C14BA9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494CF-66AF-3116-85FE-C08899708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874" y="1516443"/>
            <a:ext cx="8890242" cy="53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5"/>
    </mc:Choice>
    <mc:Fallback xmlns="">
      <p:transition spd="slow" advTm="2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809750" y="2783383"/>
            <a:ext cx="857250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Successfully developed a graph-based fake medicine detection system that delivers a practical solution to a South African health crisis.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5619750" y="4188916"/>
            <a:ext cx="9525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1809750" y="4493716"/>
            <a:ext cx="85725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Our system proves that by combining foundational data structures, graph logic, and image processing, we can build robust, capable tools that safeguard public health.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4EF1484-A394-72DB-D815-2FE49BE77B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864"/>
    </mc:Choice>
    <mc:Fallback xmlns="">
      <p:transition spd="slow" advTm="23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3645693" y="1928812"/>
            <a:ext cx="4900612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3367087" y="3290887"/>
            <a:ext cx="545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Cornerstone Coders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238762" y="4647712"/>
            <a:ext cx="294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9F93F0B-3135-61F4-F3D6-3AC1CB6DB43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</a:t>
            </a:r>
            <a:r>
              <a:rPr lang="en-US" sz="3300" b="1" i="0" u="none" strike="noStrike" cap="non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Sources</a:t>
            </a: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571500" y="12763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571500" y="1388775"/>
            <a:ext cx="11049000" cy="53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hlinkClick r:id="rId3"/>
              </a:rPr>
              <a:t>https://www.ispor.org/docs/default-source/presentations/873.pdf?sfvrsn=88b82b3b_1</a:t>
            </a:r>
            <a:endParaRPr sz="1200" dirty="0"/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hlinkClick r:id="rId4"/>
              </a:rPr>
              <a:t>https://www.medicalbrief.co.za/sa-launches-who-backed-plan-to-combat-rise-of-counterfeit-meds/</a:t>
            </a:r>
            <a:endParaRPr sz="1200" dirty="0"/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https://fiveable.me/data-structures/unit-10/graph-adt-basic-operations/study-guide/vWOgZLIBmamAdk6X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https://medium.com/@steoamon/understanding-graph-operations-an-example-using-an-adjacency-matrix-be5adb4665a9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https://www.researchgate.net/publication/350818425_k-Nearest_Neighbor_Learning_with_Graph_Neural_Networks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https://www.cs.princeton.edu/cass/papers/www11.pdf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9"/>
              </a:rPr>
              <a:t>https://www.sciencedirect.com/science/chapter/monograph/abs/pii/B9780128238172000115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0"/>
              </a:rPr>
              <a:t>https://erepo.uef.fi/server/api/core/bitstreams/f70009b5-2a47-4070-81d1-392019cd23d1/content#:~:text=Trivial%20brute%20force%20algorithm%20constructs,over%20the%20brute%20force%20method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1"/>
              </a:rPr>
              <a:t>https://www.youtube.com/watch?v=lv8-YgWYtU4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2"/>
              </a:rPr>
              <a:t>https://garagefarm.net/blog/color-histograms-demystified-from-theory-to-practical-image-analysis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3"/>
              </a:rPr>
              <a:t>https://www.sciencedirect.com/topics/computer-science/color-histogram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4"/>
              </a:rPr>
              <a:t>https://youtu.be/AzSJ6v4u-t8?si=RCYOqlYfQily_KBm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5"/>
              </a:rPr>
              <a:t>https://www.geeksforgeeks.org/dbms/cosine-similarity/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6"/>
              </a:rPr>
              <a:t>https://www.geeksforgeeks.org/machine-learning/l1-l2-norms-in-sparse-modeling/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7"/>
              </a:rPr>
              <a:t>https://youtu.be/pLIajuc31qk?si=zlFvDnqp1uE3QIzz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9088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25"/>
              <a:buFont typeface="Inter"/>
              <a:buChar char="❖"/>
            </a:pPr>
            <a:r>
              <a:rPr lang="en-US" sz="1200" u="sng" dirty="0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8"/>
              </a:rPr>
              <a:t>https://youtube.com/shorts/XuZCJ5eeZf8?si=OvRX26Ub5hS-SQWV</a:t>
            </a:r>
            <a:endParaRPr sz="1200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887</Words>
  <Application>Microsoft Office PowerPoint</Application>
  <PresentationFormat>Widescreen</PresentationFormat>
  <Paragraphs>108</Paragraphs>
  <Slides>17</Slides>
  <Notes>17</Notes>
  <HiddenSlides>0</HiddenSlides>
  <MMClips>15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JetBrains Mono</vt:lpstr>
      <vt:lpstr>Inter</vt:lpstr>
      <vt:lpstr>Arial</vt:lpstr>
      <vt:lpstr>Playfair Display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Ovayo Ntebe</dc:creator>
  <cp:lastModifiedBy>MBOFHENI JUNIOR MAKHAVHU</cp:lastModifiedBy>
  <cp:revision>7</cp:revision>
  <dcterms:modified xsi:type="dcterms:W3CDTF">2026-05-08T07:19:18Z</dcterms:modified>
</cp:coreProperties>
</file>